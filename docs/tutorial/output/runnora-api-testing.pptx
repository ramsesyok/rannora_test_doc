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d4e82f827742fb" /><Relationship Type="http://schemas.openxmlformats.org/officeDocument/2006/relationships/extended-properties" Target="/docProps/app.xml" Id="R87a62ce34cff4569" /><Relationship Type="http://schemas.openxmlformats.org/officeDocument/2006/relationships/officeDocument" Target="/ppt/presentation.xml" Id="Rfe6a2849665044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b0245d13004cb3"/>
  </p:sldMasterIdLst>
  <p:notesMasterIdLst>
    <p:notesMasterId xmlns:r="http://schemas.openxmlformats.org/officeDocument/2006/relationships" r:id="R8a71c0debd654942"/>
  </p:notesMasterIdLst>
  <p:sldIdLst>
    <p:sldId xmlns:r="http://schemas.openxmlformats.org/officeDocument/2006/relationships" id="256" r:id="Rec83360614464da2"/>
    <p:sldId xmlns:r="http://schemas.openxmlformats.org/officeDocument/2006/relationships" id="257" r:id="R9a372755635c4b67"/>
    <p:sldId xmlns:r="http://schemas.openxmlformats.org/officeDocument/2006/relationships" id="258" r:id="R84aaa5443d0f48c3"/>
    <p:sldId xmlns:r="http://schemas.openxmlformats.org/officeDocument/2006/relationships" id="259" r:id="R579c6b972597480b"/>
    <p:sldId xmlns:r="http://schemas.openxmlformats.org/officeDocument/2006/relationships" id="260" r:id="R89f73f6f195b474d"/>
    <p:sldId xmlns:r="http://schemas.openxmlformats.org/officeDocument/2006/relationships" id="261" r:id="Rf5305a0ba0224933"/>
    <p:sldId xmlns:r="http://schemas.openxmlformats.org/officeDocument/2006/relationships" id="262" r:id="Ra7f0538a7e494dc8"/>
    <p:sldId xmlns:r="http://schemas.openxmlformats.org/officeDocument/2006/relationships" id="263" r:id="R8c5e496936f74914"/>
    <p:sldId xmlns:r="http://schemas.openxmlformats.org/officeDocument/2006/relationships" id="264" r:id="Ra02377666140493d"/>
    <p:sldId xmlns:r="http://schemas.openxmlformats.org/officeDocument/2006/relationships" id="265" r:id="Rf813654ecc72472b"/>
    <p:sldId xmlns:r="http://schemas.openxmlformats.org/officeDocument/2006/relationships" id="266" r:id="R2efba61f2d4e428e"/>
    <p:sldId xmlns:r="http://schemas.openxmlformats.org/officeDocument/2006/relationships" id="267" r:id="R79774fc6390243fc"/>
    <p:sldId xmlns:r="http://schemas.openxmlformats.org/officeDocument/2006/relationships" id="268" r:id="R12ee90ae37d242b4"/>
    <p:sldId xmlns:r="http://schemas.openxmlformats.org/officeDocument/2006/relationships" id="269" r:id="Rf28e22f513e34e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59ec577dba445d" /><Relationship Type="http://schemas.openxmlformats.org/officeDocument/2006/relationships/slideMaster" Target="/ppt/slideMasters/slideMaster1.xml" Id="R15b0245d13004cb3" /><Relationship Type="http://schemas.openxmlformats.org/officeDocument/2006/relationships/notesMaster" Target="/ppt/notesMasters/notesMaster1.xml" Id="R8a71c0debd654942" /><Relationship Type="http://schemas.openxmlformats.org/officeDocument/2006/relationships/presProps" Target="/ppt/presProps.xml" Id="R5561f1bba1d14699" /><Relationship Type="http://schemas.openxmlformats.org/officeDocument/2006/relationships/tableStyles" Target="/ppt/tableStyles.xml" Id="Rcc2ffd8096094cb6" /><Relationship Type="http://schemas.openxmlformats.org/officeDocument/2006/relationships/slide" Target="/ppt/slides/slide1.xml" Id="Rec83360614464da2" /><Relationship Type="http://schemas.openxmlformats.org/officeDocument/2006/relationships/slide" Target="/ppt/slides/slide2.xml" Id="R9a372755635c4b67" /><Relationship Type="http://schemas.openxmlformats.org/officeDocument/2006/relationships/slide" Target="/ppt/slides/slide3.xml" Id="R84aaa5443d0f48c3" /><Relationship Type="http://schemas.openxmlformats.org/officeDocument/2006/relationships/slide" Target="/ppt/slides/slide4.xml" Id="R579c6b972597480b" /><Relationship Type="http://schemas.openxmlformats.org/officeDocument/2006/relationships/slide" Target="/ppt/slides/slide5.xml" Id="R89f73f6f195b474d" /><Relationship Type="http://schemas.openxmlformats.org/officeDocument/2006/relationships/slide" Target="/ppt/slides/slide6.xml" Id="Rf5305a0ba0224933" /><Relationship Type="http://schemas.openxmlformats.org/officeDocument/2006/relationships/slide" Target="/ppt/slides/slide7.xml" Id="Ra7f0538a7e494dc8" /><Relationship Type="http://schemas.openxmlformats.org/officeDocument/2006/relationships/slide" Target="/ppt/slides/slide8.xml" Id="R8c5e496936f74914" /><Relationship Type="http://schemas.openxmlformats.org/officeDocument/2006/relationships/slide" Target="/ppt/slides/slide9.xml" Id="Ra02377666140493d" /><Relationship Type="http://schemas.openxmlformats.org/officeDocument/2006/relationships/slide" Target="/ppt/slides/slide10.xml" Id="Rf813654ecc72472b" /><Relationship Type="http://schemas.openxmlformats.org/officeDocument/2006/relationships/slide" Target="/ppt/slides/slide11.xml" Id="R2efba61f2d4e428e" /><Relationship Type="http://schemas.openxmlformats.org/officeDocument/2006/relationships/slide" Target="/ppt/slides/slide12.xml" Id="R79774fc6390243fc" /><Relationship Type="http://schemas.openxmlformats.org/officeDocument/2006/relationships/slide" Target="/ppt/slides/slide13.xml" Id="R12ee90ae37d242b4" /><Relationship Type="http://schemas.openxmlformats.org/officeDocument/2006/relationships/slide" Target="/ppt/slides/slide14.xml" Id="Rf28e22f513e34e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b0c2757eef48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e954e66ddc4d7c" /><Relationship Type="http://schemas.openxmlformats.org/officeDocument/2006/relationships/notesMaster" Target="/ppt/notesMasters/notesMaster1.xml" Id="R68241d15390043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21bd49e7a24c66" /><Relationship Type="http://schemas.openxmlformats.org/officeDocument/2006/relationships/notesMaster" Target="/ppt/notesMasters/notesMaster1.xml" Id="R5ffd4829446e40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fe8fe8c5ee46b4" /><Relationship Type="http://schemas.openxmlformats.org/officeDocument/2006/relationships/notesMaster" Target="/ppt/notesMasters/notesMaster1.xml" Id="R7a2a421c223b49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f110d31dad4b37" /><Relationship Type="http://schemas.openxmlformats.org/officeDocument/2006/relationships/notesMaster" Target="/ppt/notesMasters/notesMaster1.xml" Id="R3007b89fabdd4b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086abb0daf4fd0" /><Relationship Type="http://schemas.openxmlformats.org/officeDocument/2006/relationships/notesMaster" Target="/ppt/notesMasters/notesMaster1.xml" Id="Re965f4eedf204e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64aec6d08e44f9" /><Relationship Type="http://schemas.openxmlformats.org/officeDocument/2006/relationships/notesMaster" Target="/ppt/notesMasters/notesMaster1.xml" Id="R7baf3f1a722a43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bb4df35a7145d2" /><Relationship Type="http://schemas.openxmlformats.org/officeDocument/2006/relationships/notesMaster" Target="/ppt/notesMasters/notesMaster1.xml" Id="R04496c57ef0c48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2ba7a5503f4394" /><Relationship Type="http://schemas.openxmlformats.org/officeDocument/2006/relationships/notesMaster" Target="/ppt/notesMasters/notesMaster1.xml" Id="R9ac96edb2b0543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479841ede34e85" /><Relationship Type="http://schemas.openxmlformats.org/officeDocument/2006/relationships/notesMaster" Target="/ppt/notesMasters/notesMaster1.xml" Id="R5bf31a0f01be4f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ab443e22b7410b" /><Relationship Type="http://schemas.openxmlformats.org/officeDocument/2006/relationships/notesMaster" Target="/ppt/notesMasters/notesMaster1.xml" Id="Rb5f04a55332245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1db55ba4864491" /><Relationship Type="http://schemas.openxmlformats.org/officeDocument/2006/relationships/notesMaster" Target="/ppt/notesMasters/notesMaster1.xml" Id="Rfda46939e186420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d25e365d6c47df" /><Relationship Type="http://schemas.openxmlformats.org/officeDocument/2006/relationships/notesMaster" Target="/ppt/notesMasters/notesMaster1.xml" Id="R2b54b5c9db6b4c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4b06a0dd81452d" /><Relationship Type="http://schemas.openxmlformats.org/officeDocument/2006/relationships/notesMaster" Target="/ppt/notesMasters/notesMaster1.xml" Id="Ra15ba14484904b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70f048f2038477b" /><Relationship Type="http://schemas.openxmlformats.org/officeDocument/2006/relationships/notesMaster" Target="/ppt/notesMasters/notesMaster1.xml" Id="R94d67b89d1b045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導入の目安は15〜20分。その後、詳細手順を開いて60〜90分の演習を行う。今日はAPI仕様に沿ったテスト定義を作り、それを手順書にするところまでを扱う。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詳細手順: docs/tutorial/step-by-step.qmd</a:t>
            </a:r>
          </a:p>
          <a:p xmlns:a="http://schemas.openxmlformats.org/drawingml/2006/main">
            <a:r>
              <a:t>参照: runnora README.md、internal/generate/emitter.go、internal/reporter/text.go、本リポジトリ cmd/generate.go と internal/source/loader.go。確認日 2026-09-22。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完成物を最初に共有する。試験定義と試験結果は別物。モックで成功しても、実APIの品質を証明したことにはならない。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詳細手順: docs/tutorial/step-by-step.qmd</a:t>
            </a:r>
          </a:p>
          <a:p xmlns:a="http://schemas.openxmlformats.org/drawingml/2006/main">
            <a:r>
              <a:t>参照: runnora README.md、internal/generate/emitter.go、internal/reporter/text.go、本リポジトリ cmd/generate.go と internal/source/loader.go。確認日 2026-09-22。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suiteは入口、templateは共通処理、case JSONは入力と期待値。生成直後のsuiteにはloopがある。完成例では失敗を確実に検出するためケース別のincludeに変える。Step 2〜5を参照。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詳細手順: docs/tutorial/step-by-step.qmd</a:t>
            </a:r>
          </a:p>
          <a:p xmlns:a="http://schemas.openxmlformats.org/drawingml/2006/main">
            <a:r>
              <a:t>参照: runnora README.md、internal/generate/emitter.go、internal/reporter/text.go、本リポジトリ cmd/generate.go と internal/source/loader.go。確認日 2026-09-22。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順序を説明する。雛形生成だけで試験設計は完成しない。人が観点を決め、検証式を追加する。手順書生成後も実施条件と結果の記録が必要。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詳細手順: docs/tutorial/step-by-step.qmd</a:t>
            </a:r>
          </a:p>
          <a:p xmlns:a="http://schemas.openxmlformats.org/drawingml/2006/main">
            <a:r>
              <a:t>参照: runnora README.md、internal/generate/emitter.go、internal/reporter/text.go、本リポジトリ cmd/generate.go と internal/source/loader.go。確認日 2026-09-22。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OpenAPIのGET /pet/{petId}を使う。100が存在し999が存在しないというデータ条件は、本演習のモックで定める。404は期待どおりなら成功。実業務では境界値、認証や権限、DB状態などを追加する。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詳細手順: docs/tutorial/step-by-step.qmd</a:t>
            </a:r>
          </a:p>
          <a:p xmlns:a="http://schemas.openxmlformats.org/drawingml/2006/main">
            <a:r>
              <a:t>参照: runnora README.md、internal/generate/emitter.go、internal/reporter/text.go、本リポジトリ cmd/generate.go と internal/source/loader.go。確認日 2026-09-22。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4の正常系caseから抜粋。headersやqueryParamsも完成例にある。expectは受信結果ではなく期待値。生成された雛形の値をそのまま信頼せずAPI仕様と照合する。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詳細手順: docs/tutorial/step-by-step.qmd</a:t>
            </a:r>
          </a:p>
          <a:p xmlns:a="http://schemas.openxmlformats.org/drawingml/2006/main">
            <a:r>
              <a:t>参照: runnora README.md、internal/generate/emitter.go、internal/reporter/text.go、本リポジトリ cmd/generate.go と internal/source/loader.go。確認日 2026-09-22。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生成直後はステータスのみ。expect.bodyやbodyModeを記載するだけでは本文比較にならない。スライドは正常系の抜粋で、完成版は200と404で条件を分ける。Step 5の全文を使う。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詳細手順: docs/tutorial/step-by-step.qmd</a:t>
            </a:r>
          </a:p>
          <a:p xmlns:a="http://schemas.openxmlformats.org/drawingml/2006/main">
            <a:r>
              <a:t>参照: runnora README.md、internal/generate/emitter.go、internal/reporter/text.go、本リポジトリ cmd/generate.go と internal/source/loader.go。確認日 2026-09-22。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正常系の期待nameをwrong-nameに変更して失敗を確認し、元に戻して成功を確認する。確認したバイナリでは生成suiteのloopで先行失敗が最終成功に隠れる挙動があった。教材はケース別includeで検証済み。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詳細手順: docs/tutorial/step-by-step.qmd</a:t>
            </a:r>
          </a:p>
          <a:p xmlns:a="http://schemas.openxmlformats.org/drawingml/2006/main">
            <a:r>
              <a:t>参照: runnora README.md、internal/generate/emitter.go、internal/reporter/text.go、本リポジトリ cmd/generate.go と internal/source/loader.go。確認日 2026-09-22。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モックの返し分け条件はmock-cases.yaml、本文はmock-responses。case JSONは試験側。両側を同じ誤りにそろえても実装の正しさは証明できない。実APIへ進むときは対象版、依存先のモック範囲と事前DB状態を定める。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詳細手順: docs/tutorial/step-by-step.qmd</a:t>
            </a:r>
          </a:p>
          <a:p xmlns:a="http://schemas.openxmlformats.org/drawingml/2006/main">
            <a:r>
              <a:t>参照: runnora README.md、internal/generate/emitter.go、internal/reporter/text.go、本リポジトリ cmd/generate.go と internal/source/loader.go。確認日 2026-09-22。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 2とStep 9を対応させて説明する。runnora-instructionsはこのリポジトリのCLI。実行や実レスポンスの収集はしない。手順書と実行記録の役割を混同しない。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詳細手順: docs/tutorial/step-by-step.qmd</a:t>
            </a:r>
          </a:p>
          <a:p xmlns:a="http://schemas.openxmlformats.org/drawingml/2006/main">
            <a:r>
              <a:t>参照: runnora README.md、internal/generate/emitter.go、internal/reporter/text.go、本リポジトリ cmd/generate.go と internal/source/loader.go。確認日 2026-09-22。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このGET演習で生成される4つのQMDとmanifest。本文がないのでrequest-jsonは出ない。SQLやgRPCでは入力に応じて原稿が増える。manifestは入力と生成物の追跡用。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詳細手順: docs/tutorial/step-by-step.qmd</a:t>
            </a:r>
          </a:p>
          <a:p xmlns:a="http://schemas.openxmlformats.org/drawingml/2006/main">
            <a:r>
              <a:t>参照: runnora README.md、internal/generate/emitter.go、internal/reporter/text.go、本リポジトリ cmd/generate.go と internal/source/loader.go。確認日 2026-09-22。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x.qmdに実施条件・コマンド・生成断片のinclude・結果欄を用意した。生成物の良否欄は未実施で、実行レポートから自動転記されない。QuartoでHTMLを確認。PDFは発行用設定のあるチームのプロジェクトで出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詳細手順: docs/tutorial/step-by-step.qmd</a:t>
            </a:r>
          </a:p>
          <a:p xmlns:a="http://schemas.openxmlformats.org/drawingml/2006/main">
            <a:r>
              <a:t>参照: runnora README.md、internal/generate/emitter.go、internal/reporter/text.go、本リポジトリ cmd/generate.go と internal/source/loader.go。確認日 2026-09-22。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generatedの雛形、evidenceの手編集資産、文書generated、手書きindexを区別する。forceは上書きで、古い断片や章構成を自動で整理するわけではない。レビューでは見た目だけでなく仕様と検証式の対応を確認する。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詳細手順: docs/tutorial/step-by-step.qmd</a:t>
            </a:r>
          </a:p>
          <a:p xmlns:a="http://schemas.openxmlformats.org/drawingml/2006/main">
            <a:r>
              <a:t>参照: runnora README.md、internal/generate/emitter.go、internal/reporter/text.go、本リポジトリ cmd/generate.go と internal/source/loader.go。確認日 2026-09-22。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詳細手順のStep 0へ進む。必要なツールはrunnora、変換CLI、Go（ビルド時）、Java、WireMock、Quarto。困ったらassetsの完成例と比較する。環境準備済みなら演習60〜90分を目安にする。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詳細手順: docs/tutorial/step-by-step.qmd</a:t>
            </a:r>
          </a:p>
          <a:p xmlns:a="http://schemas.openxmlformats.org/drawingml/2006/main">
            <a:r>
              <a:t>参照: runnora README.md、internal/generate/emitter.go、internal/reporter/text.go、本リポジトリ cmd/generate.go と internal/source/loader.go。確認日 2026-09-22。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14129fb81443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e3dd22b97c4c56" /><Relationship Type="http://schemas.openxmlformats.org/officeDocument/2006/relationships/slideLayout" Target="/ppt/slideLayouts/slideLayout1.xml" Id="Rb3952aa1017f4d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952aa1017f4d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67c6443234947" /><Relationship Type="http://schemas.openxmlformats.org/officeDocument/2006/relationships/notesSlide" Target="/ppt/notesSlides/notesSlide1.xml" Id="R07f63f2311594d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10cbbd5844fd2" /><Relationship Type="http://schemas.openxmlformats.org/officeDocument/2006/relationships/notesSlide" Target="/ppt/notesSlides/notesSlide2.xml" Id="R6e678531c2b840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57b583c374b12" /><Relationship Type="http://schemas.openxmlformats.org/officeDocument/2006/relationships/notesSlide" Target="/ppt/notesSlides/notesSlide3.xml" Id="Rc7580352eb9045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a23cb865947fe" /><Relationship Type="http://schemas.openxmlformats.org/officeDocument/2006/relationships/notesSlide" Target="/ppt/notesSlides/notesSlide4.xml" Id="R0d609ab2145d47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a3cbda92744fd" /><Relationship Type="http://schemas.openxmlformats.org/officeDocument/2006/relationships/notesSlide" Target="/ppt/notesSlides/notesSlide5.xml" Id="Rbf68eb31c3bf4d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df160ffe449a6" /><Relationship Type="http://schemas.openxmlformats.org/officeDocument/2006/relationships/notesSlide" Target="/ppt/notesSlides/notesSlide6.xml" Id="R914a57fe3d744f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2cc1478894354" /><Relationship Type="http://schemas.openxmlformats.org/officeDocument/2006/relationships/notesSlide" Target="/ppt/notesSlides/notesSlide7.xml" Id="Re69d001f454c40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ade95f3b94edc" /><Relationship Type="http://schemas.openxmlformats.org/officeDocument/2006/relationships/notesSlide" Target="/ppt/notesSlides/notesSlide8.xml" Id="Rae98a9377f2740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c546097104f1d" /><Relationship Type="http://schemas.openxmlformats.org/officeDocument/2006/relationships/notesSlide" Target="/ppt/notesSlides/notesSlide9.xml" Id="Re54f3a5fceb342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95cd44fea45d2" /><Relationship Type="http://schemas.openxmlformats.org/officeDocument/2006/relationships/notesSlide" Target="/ppt/notesSlides/notesSlide10.xml" Id="Rc0ae096540664c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231c17cd5b4e6a" /><Relationship Type="http://schemas.openxmlformats.org/officeDocument/2006/relationships/notesSlide" Target="/ppt/notesSlides/notesSlide11.xml" Id="Rb1aaedafcd914f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b9d66b88c4648" /><Relationship Type="http://schemas.openxmlformats.org/officeDocument/2006/relationships/notesSlide" Target="/ppt/notesSlides/notesSlide12.xml" Id="R8060cc477e8247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965f05eb44309" /><Relationship Type="http://schemas.openxmlformats.org/officeDocument/2006/relationships/notesSlide" Target="/ppt/notesSlides/notesSlide13.xml" Id="Rc8abd827cb194f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d1c7c492c44f0" /><Relationship Type="http://schemas.openxmlformats.org/officeDocument/2006/relationships/notesSlide" Target="/ppt/notesSlides/notesSlide14.xml" Id="Rbce3091ee40e49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8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5D536-CF91-4DCF-8936-34252E13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runnora API単体試験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499CD-8DC8-4EBC-83CF-CC6BC13B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CFC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A7CFCD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55BF8-BE25-4805-AC48-B98D034A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テストファイルの読み方と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テスト手順書の作り方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C69D8-EA4A-45C6-B481-AF53F2F4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14875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9DD9D4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9DD9D4"/>
                </a:solidFill>
                <a:latin typeface="Yu Gothic"/>
                <a:ea typeface="Yu Gothic"/>
                <a:cs typeface="Yu Gothic"/>
              </a:rPr>
              <a:t>新人向け導入資料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F5F4B-D8EE-4ABA-8A87-6E2537C4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6E7ED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D6E7ED"/>
                </a:solidFill>
                <a:latin typeface="Yu Gothic"/>
                <a:ea typeface="Yu Gothic"/>
                <a:cs typeface="Yu Gothic"/>
              </a:rPr>
              <a:t>演習：ペット取得APIの正常系・異常系</a:t>
            </a:r>
          </a:p>
        </p:txBody>
      </p:sp>
    </p:spTree>
    <p:extLst>
      <p:ext uri="{BB962C8B-B14F-4D97-AF65-F5344CB8AC3E}">
        <p14:creationId xmlns:p14="http://schemas.microsoft.com/office/powerpoint/2010/main" val="8377485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7AD0A-BF68-4952-A914-2E262F64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84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2384B"/>
                </a:solidFill>
                <a:latin typeface="Yu Gothic"/>
                <a:ea typeface="Yu Gothic"/>
                <a:cs typeface="Yu Gothic"/>
              </a:rPr>
              <a:t>この演習で作るもの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D7CC7-E7A2-46B9-BF7B-9ACD18DA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F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F7D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62886-7407-4044-ACC2-A7DE2085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テスト資産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7B26D-D855-4028-8406-DEB0908F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66875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APIを呼ぶ手順と、2件の入力・期待値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90943-E28D-4EED-9C6D-EB959083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実行記録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26DE9-F8D8-4C00-B217-3BD368F2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57475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成功と意図的な失敗を確認したレポート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83D5C-55F7-4FC9-A398-8D35406F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手順書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3A93F-0DEE-4B46-8336-98B6A2AA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48075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実施条件、生成した表、結果を記録する欄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711274-95A0-42CA-B2C2-63AB66968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Windows／PowerShellとWireMockで練習します</a:t>
            </a:r>
          </a:p>
        </p:txBody>
      </p:sp>
    </p:spTree>
    <p:extLst>
      <p:ext uri="{BB962C8B-B14F-4D97-AF65-F5344CB8AC3E}">
        <p14:creationId xmlns:p14="http://schemas.microsoft.com/office/powerpoint/2010/main" val="1129058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59DD9-3B0F-41FA-881F-568AB646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84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2384B"/>
                </a:solidFill>
                <a:latin typeface="Yu Gothic"/>
                <a:ea typeface="Yu Gothic"/>
                <a:cs typeface="Yu Gothic"/>
              </a:rPr>
              <a:t>3つのテストファイル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4E3F68-DA78-4AF1-8587-B4369474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F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F7D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381500"/>
                <a:gridCol w="3867150"/>
              </a:tblGrid>
              <a:tr h="75009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ファイル</a:t>
                      </a:r>
                    </a:p>
                  </a:txBody>
                  <a:tcPr marL="142875" marR="142875" marT="114300" marB="114300">
                    <a:solidFill>
                      <a:srgbClr val="12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担当する内容</a:t>
                      </a:r>
                    </a:p>
                  </a:txBody>
                  <a:tcPr marL="142875" marR="142875" marT="114300" marB="114300">
                    <a:solidFill>
                      <a:srgbClr val="12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変更する場面</a:t>
                      </a:r>
                    </a:p>
                  </a:txBody>
                  <a:tcPr marL="142875" marR="142875" marT="114300" marB="114300">
                    <a:solidFill>
                      <a:srgbClr val="12384B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84A"/>
                          </a:solidFill>
                          <a:latin typeface="Yu Gothic"/>
                          <a:ea typeface="Yu Gothic"/>
                          <a:cs typeface="Yu Gothic"/>
                        </a:rPr>
                        <a:t>suite.yml</a:t>
                      </a:r>
                    </a:p>
                  </a:txBody>
                  <a:tcPr marL="142875" marR="142875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84A"/>
                          </a:solidFill>
                          <a:latin typeface="Yu Gothic"/>
                          <a:ea typeface="Yu Gothic"/>
                          <a:cs typeface="Yu Gothic"/>
                        </a:rPr>
                        <a:t>ケース一覧と呼び出し順</a:t>
                      </a:r>
                    </a:p>
                  </a:txBody>
                  <a:tcPr marL="142875" marR="142875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84A"/>
                          </a:solidFill>
                          <a:latin typeface="Yu Gothic"/>
                          <a:ea typeface="Yu Gothic"/>
                          <a:cs typeface="Yu Gothic"/>
                        </a:rPr>
                        <a:t>ケースを追加するとき</a:t>
                      </a:r>
                    </a:p>
                  </a:txBody>
                  <a:tcPr marL="142875" marR="142875" marT="114300" marB="114300"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84A"/>
                          </a:solidFill>
                          <a:latin typeface="Yu Gothic"/>
                          <a:ea typeface="Yu Gothic"/>
                          <a:cs typeface="Yu Gothic"/>
                        </a:rPr>
                        <a:t>template.yml</a:t>
                      </a:r>
                    </a:p>
                  </a:txBody>
                  <a:tcPr marL="142875" marR="142875" marT="114300" marB="1143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84A"/>
                          </a:solidFill>
                          <a:latin typeface="Yu Gothic"/>
                          <a:ea typeface="Yu Gothic"/>
                          <a:cs typeface="Yu Gothic"/>
                        </a:rPr>
                        <a:t>API呼び出しとtest式</a:t>
                      </a:r>
                    </a:p>
                  </a:txBody>
                  <a:tcPr marL="142875" marR="142875" marT="114300" marB="1143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84A"/>
                          </a:solidFill>
                          <a:latin typeface="Yu Gothic"/>
                          <a:ea typeface="Yu Gothic"/>
                          <a:cs typeface="Yu Gothic"/>
                        </a:rPr>
                        <a:t>操作・検証を変えるとき</a:t>
                      </a:r>
                    </a:p>
                  </a:txBody>
                  <a:tcPr marL="142875" marR="142875" marT="114300" marB="114300">
                    <a:solidFill>
                      <a:srgbClr val="F1F6F7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84A"/>
                          </a:solidFill>
                          <a:latin typeface="Yu Gothic"/>
                          <a:ea typeface="Yu Gothic"/>
                          <a:cs typeface="Yu Gothic"/>
                        </a:rPr>
                        <a:t>case JSON</a:t>
                      </a:r>
                    </a:p>
                  </a:txBody>
                  <a:tcPr marL="142875" marR="142875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84A"/>
                          </a:solidFill>
                          <a:latin typeface="Yu Gothic"/>
                          <a:ea typeface="Yu Gothic"/>
                          <a:cs typeface="Yu Gothic"/>
                        </a:rPr>
                        <a:t>入力値と期待値</a:t>
                      </a:r>
                    </a:p>
                  </a:txBody>
                  <a:tcPr marL="142875" marR="142875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84A"/>
                          </a:solidFill>
                          <a:latin typeface="Yu Gothic"/>
                          <a:ea typeface="Yu Gothic"/>
                          <a:cs typeface="Yu Gothic"/>
                        </a:rPr>
                        <a:t>試験データを変えるとき</a:t>
                      </a:r>
                    </a:p>
                  </a:txBody>
                  <a:tcPr marL="142875" marR="142875" marT="11430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E646D-E9E1-4DC2-8AE2-0A8E9750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suiteがcaseを読み、templateへ1件ずつ渡します</a:t>
            </a:r>
          </a:p>
        </p:txBody>
      </p:sp>
    </p:spTree>
    <p:extLst>
      <p:ext uri="{BB962C8B-B14F-4D97-AF65-F5344CB8AC3E}">
        <p14:creationId xmlns:p14="http://schemas.microsoft.com/office/powerpoint/2010/main" val="9319381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30E62-557B-477C-A11E-371D5657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84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2384B"/>
                </a:solidFill>
                <a:latin typeface="Yu Gothic"/>
                <a:ea typeface="Yu Gothic"/>
                <a:cs typeface="Yu Gothic"/>
              </a:rPr>
              <a:t>作業の流れ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BA9FE-D697-4C24-BB0F-6D5D3AA5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F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F7D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A740E-CEDC-4B56-94B3-A2B2CB70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01　準備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B52F1-9C9E-4437-AF78-52CA69FA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571625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API仕様を読み、テストの雛形を生成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2D38F-95ED-4444-B72B-9079C4F5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02　編集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AB0B5-BABA-48C4-BD96-E4E6396C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00325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試験観点からcaseと検証式を作成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D9E26-AFDB-4563-B737-7C2B7204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03　実行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1CD175-FED9-4A41-A515-64F512AD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29025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モックで成功・失敗の両方を確認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499DA-EAA6-40B4-9CAA-24565FB5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04　文書化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7DC5B3-7457-4563-9359-C51FA370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57725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手順書原稿を生成し、実施条件を追記</a:t>
            </a:r>
          </a:p>
        </p:txBody>
      </p:sp>
    </p:spTree>
    <p:extLst>
      <p:ext uri="{BB962C8B-B14F-4D97-AF65-F5344CB8AC3E}">
        <p14:creationId xmlns:p14="http://schemas.microsoft.com/office/powerpoint/2010/main" val="10280692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42173-E80D-42D3-B53F-9386C188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84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2384B"/>
                </a:solidFill>
                <a:latin typeface="Yu Gothic"/>
                <a:ea typeface="Yu Gothic"/>
                <a:cs typeface="Yu Gothic"/>
              </a:rPr>
              <a:t>今回の試験観点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93AF5-4A23-49D2-BC8D-52D6F1A3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F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F7D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A298E-2647-4107-8F4D-0FDF1748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GET /pet/{petId}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428875"/>
          <a:ext xmlns:a="http://schemas.openxmlformats.org/drawingml/2006/main" cx="108204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762250"/>
                <a:gridCol w="5105400"/>
              </a:tblGrid>
              <a:tr h="889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ケース</a:t>
                      </a:r>
                    </a:p>
                  </a:txBody>
                  <a:tcPr marL="142875" marR="142875" marT="114300" marB="114300">
                    <a:solidFill>
                      <a:srgbClr val="12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入力</a:t>
                      </a:r>
                    </a:p>
                  </a:txBody>
                  <a:tcPr marL="142875" marR="142875" marT="114300" marB="114300">
                    <a:solidFill>
                      <a:srgbClr val="12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期待する応答</a:t>
                      </a:r>
                    </a:p>
                  </a:txBody>
                  <a:tcPr marL="142875" marR="142875" marT="114300" marB="114300">
                    <a:solidFill>
                      <a:srgbClr val="12384B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84A"/>
                          </a:solidFill>
                          <a:latin typeface="Yu Gothic"/>
                          <a:ea typeface="Yu Gothic"/>
                          <a:cs typeface="Yu Gothic"/>
                        </a:rPr>
                        <a:t>PET-001 正常系</a:t>
                      </a:r>
                    </a:p>
                  </a:txBody>
                  <a:tcPr marL="142875" marR="142875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84A"/>
                          </a:solidFill>
                          <a:latin typeface="Yu Gothic"/>
                          <a:ea typeface="Yu Gothic"/>
                          <a:cs typeface="Yu Gothic"/>
                        </a:rPr>
                        <a:t>petId = 100</a:t>
                      </a:r>
                    </a:p>
                  </a:txBody>
                  <a:tcPr marL="142875" marR="142875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84A"/>
                          </a:solidFill>
                          <a:latin typeface="Yu Gothic"/>
                          <a:ea typeface="Yu Gothic"/>
                          <a:cs typeface="Yu Gothic"/>
                        </a:rPr>
                        <a:t>200</a:t>
                      </a:r>
                    </a:p>
                    <a:p>
                      <a:r>
                        <a:rPr sz="1875" b="0">
                          <a:solidFill>
                            <a:srgbClr val="24384A"/>
                          </a:solidFill>
                          <a:latin typeface="Yu Gothic"/>
                          <a:ea typeface="Yu Gothic"/>
                          <a:cs typeface="Yu Gothic"/>
                        </a:rPr>
                        <a:t>id、name、status</a:t>
                      </a:r>
                    </a:p>
                  </a:txBody>
                  <a:tcPr marL="142875" marR="142875" marT="114300" marB="114300">
                    <a:solidFill>
                      <a:srgbClr val="FFFFFF"/>
                    </a:solidFill>
                  </a:tcPr>
                </a:tc>
              </a:tr>
              <a:tr h="889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84A"/>
                          </a:solidFill>
                          <a:latin typeface="Yu Gothic"/>
                          <a:ea typeface="Yu Gothic"/>
                          <a:cs typeface="Yu Gothic"/>
                        </a:rPr>
                        <a:t>PET-002 異常系</a:t>
                      </a:r>
                    </a:p>
                  </a:txBody>
                  <a:tcPr marL="142875" marR="142875" marT="114300" marB="1143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84A"/>
                          </a:solidFill>
                          <a:latin typeface="Yu Gothic"/>
                          <a:ea typeface="Yu Gothic"/>
                          <a:cs typeface="Yu Gothic"/>
                        </a:rPr>
                        <a:t>petId = 999</a:t>
                      </a:r>
                    </a:p>
                  </a:txBody>
                  <a:tcPr marL="142875" marR="142875" marT="114300" marB="1143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84A"/>
                          </a:solidFill>
                          <a:latin typeface="Yu Gothic"/>
                          <a:ea typeface="Yu Gothic"/>
                          <a:cs typeface="Yu Gothic"/>
                        </a:rPr>
                        <a:t>404</a:t>
                      </a:r>
                    </a:p>
                    <a:p>
                      <a:r>
                        <a:rPr sz="1875" b="0">
                          <a:solidFill>
                            <a:srgbClr val="24384A"/>
                          </a:solidFill>
                          <a:latin typeface="Yu Gothic"/>
                          <a:ea typeface="Yu Gothic"/>
                          <a:cs typeface="Yu Gothic"/>
                        </a:rPr>
                        <a:t>message = Pet not found</a:t>
                      </a:r>
                    </a:p>
                  </a:txBody>
                  <a:tcPr marL="142875" marR="142875" marT="114300" marB="114300"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424F5-B13A-4475-87B4-DBA39223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2384B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2384B"/>
                </a:solidFill>
                <a:latin typeface="Yu Gothic"/>
                <a:ea typeface="Yu Gothic"/>
                <a:cs typeface="Yu Gothic"/>
              </a:rPr>
              <a:t>異常系も、仕様どおりの応答なら試験成功です</a:t>
            </a:r>
          </a:p>
        </p:txBody>
      </p:sp>
    </p:spTree>
    <p:extLst>
      <p:ext uri="{BB962C8B-B14F-4D97-AF65-F5344CB8AC3E}">
        <p14:creationId xmlns:p14="http://schemas.microsoft.com/office/powerpoint/2010/main" val="21335329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5DA8A-6C58-4B73-BA1C-0E71AD56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84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2384B"/>
                </a:solidFill>
                <a:latin typeface="Yu Gothic"/>
                <a:ea typeface="Yu Gothic"/>
                <a:cs typeface="Yu Gothic"/>
              </a:rPr>
              <a:t>case JSONの読み方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D35A6-D698-42FC-8E6C-19AFBA0E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F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F7D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CD871-9DFE-47E6-99A1-34578133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7143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"name": "PET-001"</a:t>
            </a:r>
          </a:p>
          <a:p xmlns:a="http://schemas.openxmlformats.org/drawingml/2006/main">
            <a:pPr>
              <a:def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"pathParams": { "petId": 100 }</a:t>
            </a:r>
          </a:p>
          <a:p xmlns:a="http://schemas.openxmlformats.org/drawingml/2006/main">
            <a:pPr>
              <a:def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"expect": {</a:t>
            </a:r>
          </a:p>
          <a:p xmlns:a="http://schemas.openxmlformats.org/drawingml/2006/main">
            <a:pPr>
              <a:def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  "status": 200,</a:t>
            </a:r>
          </a:p>
          <a:p xmlns:a="http://schemas.openxmlformats.org/drawingml/2006/main">
            <a:pPr>
              <a:def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  "body": { "name": "doggie" }</a:t>
            </a:r>
          </a:p>
          <a:p xmlns:a="http://schemas.openxmlformats.org/drawingml/2006/main">
            <a:pPr>
              <a:def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9C4FF-31A4-4BD3-9B84-45E4DE51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952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ケースの識別名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送る値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期待する値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4B307-8CB9-4E41-A900-B73CF62C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6F7D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B6F7D"/>
                </a:solidFill>
                <a:latin typeface="Yu Gothic"/>
                <a:ea typeface="Yu Gothic"/>
                <a:cs typeface="Yu Gothic"/>
              </a:rPr>
              <a:t>抜粋表示。完全なJSONは詳細手順のStep 4を参照</a:t>
            </a:r>
          </a:p>
        </p:txBody>
      </p:sp>
    </p:spTree>
    <p:extLst>
      <p:ext uri="{BB962C8B-B14F-4D97-AF65-F5344CB8AC3E}">
        <p14:creationId xmlns:p14="http://schemas.microsoft.com/office/powerpoint/2010/main" val="641327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686EC-4763-4201-AFCA-16B00F2F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84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2384B"/>
                </a:solidFill>
                <a:latin typeface="Yu Gothic"/>
                <a:ea typeface="Yu Gothic"/>
                <a:cs typeface="Yu Gothic"/>
              </a:rPr>
              <a:t>本文を確かめるtest式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DB558-4EA3-43AB-9A04-DD7F3EA5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F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F7D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37250-006A-443F-A408-0FF86EBD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生成直後の検証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33503-C25B-4BD4-8E69-BA425D71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current.res.status == vars.case.expect.status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635D0-C3C2-415D-A669-93F28B70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追加する本文検証の例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2EE78-6AE1-4BB2-8EDE-3BFD6587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current.res.body.name == vars.case.expect.body.name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1C576-DCF1-4AB4-B19B-BAA953A4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2384B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2384B"/>
                </a:solidFill>
                <a:latin typeface="Yu Gothic"/>
                <a:ea typeface="Yu Gothic"/>
                <a:cs typeface="Yu Gothic"/>
              </a:rPr>
              <a:t>expect.bodyに書いた項目と、実際の比較式を対応させます</a:t>
            </a:r>
          </a:p>
        </p:txBody>
      </p:sp>
    </p:spTree>
    <p:extLst>
      <p:ext uri="{BB962C8B-B14F-4D97-AF65-F5344CB8AC3E}">
        <p14:creationId xmlns:p14="http://schemas.microsoft.com/office/powerpoint/2010/main" val="7075887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38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1722A-630B-440C-B273-B4108F31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失敗を検出する確認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17614-9ACD-4A27-9101-F66C714D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CFC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A7CFCD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E3117-8A32-46E9-9D49-F42717FF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DDBD4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8DDBD4"/>
                </a:solidFill>
                <a:latin typeface="Yu Gothic"/>
                <a:ea typeface="Yu Gothic"/>
                <a:cs typeface="Yu Gothic"/>
              </a:rPr>
              <a:t>1　変更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77D97-2570-4C44-AC8C-C926B369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1450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期待値doggieをwrong-nameに変える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FB9F9-13B0-4C2D-AC42-98CF692A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DDBD4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8DDBD4"/>
                </a:solidFill>
                <a:latin typeface="Yu Gothic"/>
                <a:ea typeface="Yu Gothic"/>
                <a:cs typeface="Yu Gothic"/>
              </a:rPr>
              <a:t>2　実行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E3FA2-28BA-401B-8C06-303FACD5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6225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終了コード1と、本文比較の失敗を確認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6F99F-FA2E-419F-B5E0-63345E43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DDBD4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8DDBD4"/>
                </a:solidFill>
                <a:latin typeface="Yu Gothic"/>
                <a:ea typeface="Yu Gothic"/>
                <a:cs typeface="Yu Gothic"/>
              </a:rPr>
              <a:t>3　復元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57A3B-D974-4206-A017-8114B421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1000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doggieに戻して、終了コード0を確認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66B41-A91B-4552-93F4-39012CB4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9DD9D4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9DD9D4"/>
                </a:solidFill>
                <a:latin typeface="Yu Gothic"/>
                <a:ea typeface="Yu Gothic"/>
                <a:cs typeface="Yu Gothic"/>
              </a:rPr>
              <a:t>モックの応答は変えず、期待値だけを変えます</a:t>
            </a:r>
          </a:p>
        </p:txBody>
      </p:sp>
    </p:spTree>
    <p:extLst>
      <p:ext uri="{BB962C8B-B14F-4D97-AF65-F5344CB8AC3E}">
        <p14:creationId xmlns:p14="http://schemas.microsoft.com/office/powerpoint/2010/main" val="9338148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594E5-2D7C-4212-9556-51ACFF28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84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2384B"/>
                </a:solidFill>
                <a:latin typeface="Yu Gothic"/>
                <a:ea typeface="Yu Gothic"/>
                <a:cs typeface="Yu Gothic"/>
              </a:rPr>
              <a:t>モックと実APIの区別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9DBF4-1CE0-40BE-B92B-4A82ACEB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F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F7D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30E09-119A-40FC-A0A9-C5222364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試験側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296C1-F674-4181-864B-DA96F3C6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1450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case JSONに、送る値と期待値を書く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669DE-6FD4-45BD-9865-78F4A908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モック側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4A537-2ADE-4081-A261-035C735E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6225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mock-cases.yamlと応答JSONで返し方を決める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9B0B8-1008-445A-AEB3-9BA0D8C0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確認範囲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61C09-06E2-4B1A-9E60-D63C758A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1000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モックでの成功は、テストの動作確認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9D2DD-7628-4E6A-98B0-CDB42628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実APIの判定は、対象APIの試験環境で別途実施します</a:t>
            </a:r>
          </a:p>
        </p:txBody>
      </p:sp>
    </p:spTree>
    <p:extLst>
      <p:ext uri="{BB962C8B-B14F-4D97-AF65-F5344CB8AC3E}">
        <p14:creationId xmlns:p14="http://schemas.microsoft.com/office/powerpoint/2010/main" val="16452316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BF00F-CE98-4518-A4DD-CE8624F4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84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2384B"/>
                </a:solidFill>
                <a:latin typeface="Yu Gothic"/>
                <a:ea typeface="Yu Gothic"/>
                <a:cs typeface="Yu Gothic"/>
              </a:rPr>
              <a:t>2つのgenerateコマンド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842E29-0162-4770-B027-D508F53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F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F7D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786DC4-DF34-430E-B964-6F485636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runnora generate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7557D-519D-49AD-920E-7D5D7F96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OpenAPIから、テストの雛形を作る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DB3035-A9E1-486D-A1DA-48808E0D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runnora-instructions generate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7D19DE-2017-4AC3-875F-1DB29365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suiteなどから、手順書用のQMD原稿を作る</a:t>
            </a:r>
          </a:p>
        </p:txBody>
      </p:sp>
    </p:spTree>
    <p:extLst>
      <p:ext uri="{BB962C8B-B14F-4D97-AF65-F5344CB8AC3E}">
        <p14:creationId xmlns:p14="http://schemas.microsoft.com/office/powerpoint/2010/main" val="11667871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11BF1-55BB-4BFB-A468-FC2C70E1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84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2384B"/>
                </a:solidFill>
                <a:latin typeface="Yu Gothic"/>
                <a:ea typeface="Yu Gothic"/>
                <a:cs typeface="Yu Gothic"/>
              </a:rPr>
              <a:t>生成される手順書原稿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EC8D4-A5EC-4387-BBE9-70062CAF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F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F7D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66687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71875"/>
                <a:gridCol w="7248525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原稿</a:t>
                      </a:r>
                    </a:p>
                  </a:txBody>
                  <a:tcPr marL="142875" marR="142875" marT="114300" marB="114300">
                    <a:solidFill>
                      <a:srgbClr val="12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記載する内容</a:t>
                      </a:r>
                    </a:p>
                  </a:txBody>
                  <a:tcPr marL="142875" marR="142875" marT="114300" marB="114300">
                    <a:solidFill>
                      <a:srgbClr val="12384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84A"/>
                          </a:solidFill>
                          <a:latin typeface="Yu Gothic"/>
                          <a:ea typeface="Yu Gothic"/>
                          <a:cs typeface="Yu Gothic"/>
                        </a:rPr>
                        <a:t>scenario.qmd</a:t>
                      </a:r>
                    </a:p>
                  </a:txBody>
                  <a:tcPr marL="142875" marR="142875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84A"/>
                          </a:solidFill>
                          <a:latin typeface="Yu Gothic"/>
                          <a:ea typeface="Yu Gothic"/>
                          <a:cs typeface="Yu Gothic"/>
                        </a:rPr>
                        <a:t>共通手順・期待ステータス・詳細参照</a:t>
                      </a:r>
                    </a:p>
                  </a:txBody>
                  <a:tcPr marL="142875" marR="142875" marT="114300" marB="11430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84A"/>
                          </a:solidFill>
                          <a:latin typeface="Yu Gothic"/>
                          <a:ea typeface="Yu Gothic"/>
                          <a:cs typeface="Yu Gothic"/>
                        </a:rPr>
                        <a:t>cases.qmd</a:t>
                      </a:r>
                    </a:p>
                  </a:txBody>
                  <a:tcPr marL="142875" marR="142875" marT="114300" marB="1143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84A"/>
                          </a:solidFill>
                          <a:latin typeface="Yu Gothic"/>
                          <a:ea typeface="Yu Gothic"/>
                          <a:cs typeface="Yu Gothic"/>
                        </a:rPr>
                        <a:t>ケース別の入力と期待値</a:t>
                      </a:r>
                    </a:p>
                  </a:txBody>
                  <a:tcPr marL="142875" marR="142875" marT="114300" marB="114300">
                    <a:solidFill>
                      <a:srgbClr val="F1F6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84A"/>
                          </a:solidFill>
                          <a:latin typeface="Yu Gothic"/>
                          <a:ea typeface="Yu Gothic"/>
                          <a:cs typeface="Yu Gothic"/>
                        </a:rPr>
                        <a:t>http.qmd</a:t>
                      </a:r>
                    </a:p>
                  </a:txBody>
                  <a:tcPr marL="142875" marR="142875" marT="11430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84A"/>
                          </a:solidFill>
                          <a:latin typeface="Yu Gothic"/>
                          <a:ea typeface="Yu Gothic"/>
                          <a:cs typeface="Yu Gothic"/>
                        </a:rPr>
                        <a:t>HTTPメソッド・URL・ヘッダー</a:t>
                      </a:r>
                    </a:p>
                  </a:txBody>
                  <a:tcPr marL="142875" marR="142875" marT="114300" marB="11430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84A"/>
                          </a:solidFill>
                          <a:latin typeface="Yu Gothic"/>
                          <a:ea typeface="Yu Gothic"/>
                          <a:cs typeface="Yu Gothic"/>
                        </a:rPr>
                        <a:t>expectations.qmd</a:t>
                      </a:r>
                    </a:p>
                  </a:txBody>
                  <a:tcPr marL="142875" marR="142875" marT="114300" marB="114300">
                    <a:solidFill>
                      <a:srgbClr val="F1F6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84A"/>
                          </a:solidFill>
                          <a:latin typeface="Yu Gothic"/>
                          <a:ea typeface="Yu Gothic"/>
                          <a:cs typeface="Yu Gothic"/>
                        </a:rPr>
                        <a:t>期待値と検証式</a:t>
                      </a:r>
                    </a:p>
                  </a:txBody>
                  <a:tcPr marL="142875" marR="142875" marT="114300" marB="114300">
                    <a:solidFill>
                      <a:srgbClr val="F1F6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2DF4E-3341-47FF-A815-B039AF0A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manifest.jsonで入力元と生成物を確認できます</a:t>
            </a:r>
          </a:p>
        </p:txBody>
      </p:sp>
    </p:spTree>
    <p:extLst>
      <p:ext uri="{BB962C8B-B14F-4D97-AF65-F5344CB8AC3E}">
        <p14:creationId xmlns:p14="http://schemas.microsoft.com/office/powerpoint/2010/main" val="10108518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2E5EB-014D-4B85-A5E0-630AA246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84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2384B"/>
                </a:solidFill>
                <a:latin typeface="Yu Gothic"/>
                <a:ea typeface="Yu Gothic"/>
                <a:cs typeface="Yu Gothic"/>
              </a:rPr>
              <a:t>人が仕上げる手順書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BF7F2-52D2-4EF8-82B7-D4E8E0B24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F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F7D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3C8743-160F-4DED-A739-F7783B51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実施前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D15AF-29FE-4D7F-80D6-D32ADBA3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1450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環境・対象版・前提データ・実行コマンド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E4068-F5C0-40F0-8001-0EFBDD1A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本文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C31B7-7B73-4116-99C0-84EFBF20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6225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生成したシナリオ表と詳細表をinclude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3E1E3-EA62-474D-8DE9-D6F5FE62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実施後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BD2B3-8198-420B-8A92-8AA19C52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1000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日時・実施者・良否・証跡・不具合番号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F339A-1548-4BD8-9828-3B77F0B6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生成原稿の更新と、結果の記録は別の作業です</a:t>
            </a:r>
          </a:p>
        </p:txBody>
      </p:sp>
    </p:spTree>
    <p:extLst>
      <p:ext uri="{BB962C8B-B14F-4D97-AF65-F5344CB8AC3E}">
        <p14:creationId xmlns:p14="http://schemas.microsoft.com/office/powerpoint/2010/main" val="7432987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04E41-E5F9-4A4C-A9FE-79902E02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84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2384B"/>
                </a:solidFill>
                <a:latin typeface="Yu Gothic"/>
                <a:ea typeface="Yu Gothic"/>
                <a:cs typeface="Yu Gothic"/>
              </a:rPr>
              <a:t>更新する場所とレビュー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8680B-70DE-4EED-9E82-588C1A7C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B6F7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5B6F7D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FDE5B-BC69-4CCD-A2D2-01AFD5C6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テスト変更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6C23E-A3F4-4759-93AE-9693F852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1450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case・template・suiteを直し、再実行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382E3-1CEC-46C3-B6D0-E6391B80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文書更新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95DAC-AD2D-4EB9-BAB7-36FC58A6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6225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原稿を再生成して、HTMLと参照を確認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078FA-A147-4B7C-A166-EF5CEE02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レビュー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A053F-12EE-46C4-99EE-D66D8781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10000"/>
            <a:ext cx="876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24384A"/>
                </a:solidFill>
                <a:latin typeface="Yu Gothic"/>
                <a:ea typeface="Yu Gothic"/>
                <a:cs typeface="Yu Gothic"/>
              </a:rPr>
              <a:t>目的・入力・比較式・証跡の対応を確認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8A62C8-E9A8-4106-8D3F-B808DED4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147D78"/>
                </a:solidFill>
                <a:latin typeface="Yu Gothic"/>
                <a:ea typeface="Yu Gothic"/>
                <a:cs typeface="Yu Gothic"/>
              </a:rPr>
              <a:t>手書きの補足はindex.qmdへ残します</a:t>
            </a:r>
          </a:p>
        </p:txBody>
      </p:sp>
    </p:spTree>
    <p:extLst>
      <p:ext uri="{BB962C8B-B14F-4D97-AF65-F5344CB8AC3E}">
        <p14:creationId xmlns:p14="http://schemas.microsoft.com/office/powerpoint/2010/main" val="7680584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238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EF634-7282-4202-9ADF-B600AF73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 by Step演習の入口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30824-6CE7-48FD-AD69-DB2A6E9D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7CFCD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A7CFCD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1CB87-EE80-4DD8-8578-3B73E309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5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詳細手順を開いて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 0から始めます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79CFB-BD5B-4CDE-8A34-1F608434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38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9DD9D4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9DD9D4"/>
                </a:solidFill>
                <a:latin typeface="Yu Gothic"/>
                <a:ea typeface="Yu Gothic"/>
                <a:cs typeface="Yu Gothic"/>
              </a:rPr>
              <a:t>step-by-step.html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279C8-AF4C-4E32-90B7-6993BC86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6E7E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D6E7ED"/>
                </a:solidFill>
                <a:latin typeface="Yu Gothic"/>
                <a:ea typeface="Yu Gothic"/>
                <a:cs typeface="Yu Gothic"/>
              </a:rPr>
              <a:t>完成例：assets/</a:t>
            </a:r>
          </a:p>
          <a:p xmlns:a="http://schemas.openxmlformats.org/drawingml/2006/main">
            <a:pPr>
              <a:defRPr sz="2100" b="0">
                <a:solidFill>
                  <a:srgbClr val="D6E7ED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D6E7ED"/>
                </a:solidFill>
                <a:latin typeface="Yu Gothic"/>
                <a:ea typeface="Yu Gothic"/>
                <a:cs typeface="Yu Gothic"/>
              </a:rPr>
              <a:t>各Stepの確認項目と、トラブルシュートを用意</a:t>
            </a:r>
          </a:p>
        </p:txBody>
      </p:sp>
    </p:spTree>
    <p:extLst>
      <p:ext uri="{BB962C8B-B14F-4D97-AF65-F5344CB8AC3E}">
        <p14:creationId xmlns:p14="http://schemas.microsoft.com/office/powerpoint/2010/main" val="12942017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2026-09-21T22:10:04.7550000Z</dcterms:created>
  <dcterms:modified xsi:type="dcterms:W3CDTF">2026-09-21T22:10:04.7550000Z</dcterms:modified>
</coreProperties>
</file>